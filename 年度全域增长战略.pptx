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FDB"/>
    <a:srgbClr val="3E7FDA"/>
    <a:srgbClr val="3E7ED9"/>
    <a:srgbClr val="4480DC"/>
    <a:srgbClr val="3E7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5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6" y="168"/>
      </p:cViewPr>
      <p:guideLst>
        <p:guide orient="horz" pos="213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054B9A-E6A3-40D0-8D78-C5ACA7F46E4E}" type="doc">
      <dgm:prSet loTypeId="urn:microsoft.com/office/officeart/2005/8/layout/arrow2" loCatId="process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zh-CN" altLang="en-US"/>
        </a:p>
      </dgm:t>
    </dgm:pt>
    <dgm:pt modelId="{10AE4320-4B9E-42F1-9A7A-F68CEA182136}">
      <dgm:prSet phldrT="[文本]" phldr="0" custT="1"/>
      <dgm:spPr/>
      <dgm:t>
        <a:bodyPr/>
        <a:lstStyle/>
        <a:p>
          <a:r>
            <a:rPr lang="en-US" altLang="zh-CN" sz="100" dirty="0">
              <a:solidFill>
                <a:schemeClr val="bg1"/>
              </a:solidFill>
            </a:rPr>
            <a:t>1</a:t>
          </a:r>
          <a:endParaRPr lang="zh-CN" altLang="en-US" sz="100" dirty="0">
            <a:solidFill>
              <a:schemeClr val="bg1"/>
            </a:solidFill>
          </a:endParaRPr>
        </a:p>
      </dgm:t>
    </dgm:pt>
    <dgm:pt modelId="{221E4D71-903B-497B-ACF8-06BDD741B384}" type="sibTrans" cxnId="{E90A836B-40F0-4F5C-833E-7DEF1D4B4627}">
      <dgm:prSet/>
      <dgm:spPr/>
      <dgm:t>
        <a:bodyPr/>
        <a:lstStyle/>
        <a:p>
          <a:endParaRPr lang="zh-CN" altLang="en-US"/>
        </a:p>
      </dgm:t>
    </dgm:pt>
    <dgm:pt modelId="{B59ABCDC-7AC8-47C9-8DE3-CC271272B773}" type="parTrans" cxnId="{E90A836B-40F0-4F5C-833E-7DEF1D4B4627}">
      <dgm:prSet/>
      <dgm:spPr/>
      <dgm:t>
        <a:bodyPr/>
        <a:lstStyle/>
        <a:p>
          <a:endParaRPr lang="zh-CN" altLang="en-US"/>
        </a:p>
      </dgm:t>
    </dgm:pt>
    <dgm:pt modelId="{1DB961F0-92D8-43A6-90AC-2A8F3E8D1261}" type="pres">
      <dgm:prSet presAssocID="{A8054B9A-E6A3-40D0-8D78-C5ACA7F46E4E}" presName="arrowDiagram" presStyleCnt="0">
        <dgm:presLayoutVars>
          <dgm:chMax val="5"/>
          <dgm:dir/>
          <dgm:resizeHandles val="exact"/>
        </dgm:presLayoutVars>
      </dgm:prSet>
      <dgm:spPr/>
    </dgm:pt>
    <dgm:pt modelId="{CA18858D-681E-409A-862C-76292527EC73}" type="pres">
      <dgm:prSet presAssocID="{A8054B9A-E6A3-40D0-8D78-C5ACA7F46E4E}" presName="arrow" presStyleLbl="bgShp" presStyleIdx="0" presStyleCnt="1" custAng="13724194" custFlipHor="1" custScaleX="130336" custScaleY="81113" custLinFactNeighborX="-4775" custLinFactNeighborY="428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6"/>
        </a:solidFill>
        <a:ln>
          <a:noFill/>
        </a:ln>
      </dgm:spPr>
    </dgm:pt>
    <dgm:pt modelId="{8C9B9403-2F05-485B-B5D0-ABF6A1475A95}" type="pres">
      <dgm:prSet presAssocID="{A8054B9A-E6A3-40D0-8D78-C5ACA7F46E4E}" presName="arrowDiagram1" presStyleCnt="0">
        <dgm:presLayoutVars>
          <dgm:bulletEnabled val="1"/>
        </dgm:presLayoutVars>
      </dgm:prSet>
      <dgm:spPr/>
    </dgm:pt>
    <dgm:pt modelId="{E2FF519A-8CDB-4252-A801-F2094919D642}" type="pres">
      <dgm:prSet presAssocID="{10AE4320-4B9E-42F1-9A7A-F68CEA182136}" presName="bullet1" presStyleLbl="node1" presStyleIdx="0" presStyleCnt="1" custScaleX="1138" custScaleY="1138"/>
      <dgm:spPr/>
    </dgm:pt>
    <dgm:pt modelId="{2283EFD3-B09D-4F1A-8958-5FB17C9A258A}" type="pres">
      <dgm:prSet presAssocID="{10AE4320-4B9E-42F1-9A7A-F68CEA182136}" presName="textBox1" presStyleLbl="revTx" presStyleIdx="0" presStyleCnt="1">
        <dgm:presLayoutVars>
          <dgm:bulletEnabled val="1"/>
        </dgm:presLayoutVars>
      </dgm:prSet>
      <dgm:spPr/>
    </dgm:pt>
  </dgm:ptLst>
  <dgm:cxnLst>
    <dgm:cxn modelId="{F8063A27-5627-41C7-A9F6-3C4693DB3A80}" type="presOf" srcId="{A8054B9A-E6A3-40D0-8D78-C5ACA7F46E4E}" destId="{1DB961F0-92D8-43A6-90AC-2A8F3E8D1261}" srcOrd="0" destOrd="0" presId="urn:microsoft.com/office/officeart/2005/8/layout/arrow2"/>
    <dgm:cxn modelId="{E90A836B-40F0-4F5C-833E-7DEF1D4B4627}" srcId="{A8054B9A-E6A3-40D0-8D78-C5ACA7F46E4E}" destId="{10AE4320-4B9E-42F1-9A7A-F68CEA182136}" srcOrd="0" destOrd="0" parTransId="{B59ABCDC-7AC8-47C9-8DE3-CC271272B773}" sibTransId="{221E4D71-903B-497B-ACF8-06BDD741B384}"/>
    <dgm:cxn modelId="{93CBED7F-D6BE-4E69-B115-9869B665FABF}" type="presOf" srcId="{10AE4320-4B9E-42F1-9A7A-F68CEA182136}" destId="{2283EFD3-B09D-4F1A-8958-5FB17C9A258A}" srcOrd="0" destOrd="0" presId="urn:microsoft.com/office/officeart/2005/8/layout/arrow2"/>
    <dgm:cxn modelId="{28183A84-339E-4B6C-B943-0A531FD90474}" type="presParOf" srcId="{1DB961F0-92D8-43A6-90AC-2A8F3E8D1261}" destId="{CA18858D-681E-409A-862C-76292527EC73}" srcOrd="0" destOrd="0" presId="urn:microsoft.com/office/officeart/2005/8/layout/arrow2"/>
    <dgm:cxn modelId="{E654CE68-0F5A-488A-8868-73854EDE3711}" type="presParOf" srcId="{1DB961F0-92D8-43A6-90AC-2A8F3E8D1261}" destId="{8C9B9403-2F05-485B-B5D0-ABF6A1475A95}" srcOrd="1" destOrd="0" presId="urn:microsoft.com/office/officeart/2005/8/layout/arrow2"/>
    <dgm:cxn modelId="{EC730305-30B8-4FCA-A291-AE4CF9FA4BE5}" type="presParOf" srcId="{8C9B9403-2F05-485B-B5D0-ABF6A1475A95}" destId="{E2FF519A-8CDB-4252-A801-F2094919D642}" srcOrd="0" destOrd="0" presId="urn:microsoft.com/office/officeart/2005/8/layout/arrow2"/>
    <dgm:cxn modelId="{F63EF6C9-2B04-4191-99EF-D3A5618E70AF}" type="presParOf" srcId="{8C9B9403-2F05-485B-B5D0-ABF6A1475A95}" destId="{2283EFD3-B09D-4F1A-8958-5FB17C9A258A}" srcOrd="1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054B9A-E6A3-40D0-8D78-C5ACA7F46E4E}" type="doc">
      <dgm:prSet loTypeId="urn:microsoft.com/office/officeart/2005/8/layout/arrow2" loCatId="process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zh-CN" altLang="en-US"/>
        </a:p>
      </dgm:t>
    </dgm:pt>
    <dgm:pt modelId="{10AE4320-4B9E-42F1-9A7A-F68CEA182136}">
      <dgm:prSet phldrT="[文本]" phldr="0" custT="1"/>
      <dgm:spPr/>
      <dgm:t>
        <a:bodyPr/>
        <a:lstStyle/>
        <a:p>
          <a:r>
            <a:rPr lang="en-US" altLang="zh-CN" sz="100" dirty="0">
              <a:solidFill>
                <a:schemeClr val="bg1"/>
              </a:solidFill>
            </a:rPr>
            <a:t>1</a:t>
          </a:r>
          <a:endParaRPr lang="zh-CN" altLang="en-US" sz="100" dirty="0">
            <a:solidFill>
              <a:schemeClr val="bg1"/>
            </a:solidFill>
          </a:endParaRPr>
        </a:p>
      </dgm:t>
    </dgm:pt>
    <dgm:pt modelId="{221E4D71-903B-497B-ACF8-06BDD741B384}" type="sibTrans" cxnId="{E90A836B-40F0-4F5C-833E-7DEF1D4B4627}">
      <dgm:prSet/>
      <dgm:spPr/>
      <dgm:t>
        <a:bodyPr/>
        <a:lstStyle/>
        <a:p>
          <a:endParaRPr lang="zh-CN" altLang="en-US"/>
        </a:p>
      </dgm:t>
    </dgm:pt>
    <dgm:pt modelId="{B59ABCDC-7AC8-47C9-8DE3-CC271272B773}" type="parTrans" cxnId="{E90A836B-40F0-4F5C-833E-7DEF1D4B4627}">
      <dgm:prSet/>
      <dgm:spPr/>
      <dgm:t>
        <a:bodyPr/>
        <a:lstStyle/>
        <a:p>
          <a:endParaRPr lang="zh-CN" altLang="en-US"/>
        </a:p>
      </dgm:t>
    </dgm:pt>
    <dgm:pt modelId="{1DB961F0-92D8-43A6-90AC-2A8F3E8D1261}" type="pres">
      <dgm:prSet presAssocID="{A8054B9A-E6A3-40D0-8D78-C5ACA7F46E4E}" presName="arrowDiagram" presStyleCnt="0">
        <dgm:presLayoutVars>
          <dgm:chMax val="5"/>
          <dgm:dir/>
          <dgm:resizeHandles val="exact"/>
        </dgm:presLayoutVars>
      </dgm:prSet>
      <dgm:spPr/>
    </dgm:pt>
    <dgm:pt modelId="{CA18858D-681E-409A-862C-76292527EC73}" type="pres">
      <dgm:prSet presAssocID="{A8054B9A-E6A3-40D0-8D78-C5ACA7F46E4E}" presName="arrow" presStyleLbl="bgShp" presStyleIdx="0" presStyleCnt="1" custAng="13724194" custFlipHor="1" custScaleX="130336" custScaleY="81113" custLinFactNeighborX="-4775" custLinFactNeighborY="428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6"/>
        </a:solidFill>
        <a:ln>
          <a:noFill/>
        </a:ln>
      </dgm:spPr>
    </dgm:pt>
    <dgm:pt modelId="{8C9B9403-2F05-485B-B5D0-ABF6A1475A95}" type="pres">
      <dgm:prSet presAssocID="{A8054B9A-E6A3-40D0-8D78-C5ACA7F46E4E}" presName="arrowDiagram1" presStyleCnt="0">
        <dgm:presLayoutVars>
          <dgm:bulletEnabled val="1"/>
        </dgm:presLayoutVars>
      </dgm:prSet>
      <dgm:spPr/>
    </dgm:pt>
    <dgm:pt modelId="{E2FF519A-8CDB-4252-A801-F2094919D642}" type="pres">
      <dgm:prSet presAssocID="{10AE4320-4B9E-42F1-9A7A-F68CEA182136}" presName="bullet1" presStyleLbl="node1" presStyleIdx="0" presStyleCnt="1" custScaleX="1138" custScaleY="1138"/>
      <dgm:spPr/>
    </dgm:pt>
    <dgm:pt modelId="{2283EFD3-B09D-4F1A-8958-5FB17C9A258A}" type="pres">
      <dgm:prSet presAssocID="{10AE4320-4B9E-42F1-9A7A-F68CEA182136}" presName="textBox1" presStyleLbl="revTx" presStyleIdx="0" presStyleCnt="1">
        <dgm:presLayoutVars>
          <dgm:bulletEnabled val="1"/>
        </dgm:presLayoutVars>
      </dgm:prSet>
      <dgm:spPr/>
    </dgm:pt>
  </dgm:ptLst>
  <dgm:cxnLst>
    <dgm:cxn modelId="{F8063A27-5627-41C7-A9F6-3C4693DB3A80}" type="presOf" srcId="{A8054B9A-E6A3-40D0-8D78-C5ACA7F46E4E}" destId="{1DB961F0-92D8-43A6-90AC-2A8F3E8D1261}" srcOrd="0" destOrd="0" presId="urn:microsoft.com/office/officeart/2005/8/layout/arrow2"/>
    <dgm:cxn modelId="{E90A836B-40F0-4F5C-833E-7DEF1D4B4627}" srcId="{A8054B9A-E6A3-40D0-8D78-C5ACA7F46E4E}" destId="{10AE4320-4B9E-42F1-9A7A-F68CEA182136}" srcOrd="0" destOrd="0" parTransId="{B59ABCDC-7AC8-47C9-8DE3-CC271272B773}" sibTransId="{221E4D71-903B-497B-ACF8-06BDD741B384}"/>
    <dgm:cxn modelId="{93CBED7F-D6BE-4E69-B115-9869B665FABF}" type="presOf" srcId="{10AE4320-4B9E-42F1-9A7A-F68CEA182136}" destId="{2283EFD3-B09D-4F1A-8958-5FB17C9A258A}" srcOrd="0" destOrd="0" presId="urn:microsoft.com/office/officeart/2005/8/layout/arrow2"/>
    <dgm:cxn modelId="{28183A84-339E-4B6C-B943-0A531FD90474}" type="presParOf" srcId="{1DB961F0-92D8-43A6-90AC-2A8F3E8D1261}" destId="{CA18858D-681E-409A-862C-76292527EC73}" srcOrd="0" destOrd="0" presId="urn:microsoft.com/office/officeart/2005/8/layout/arrow2"/>
    <dgm:cxn modelId="{E654CE68-0F5A-488A-8868-73854EDE3711}" type="presParOf" srcId="{1DB961F0-92D8-43A6-90AC-2A8F3E8D1261}" destId="{8C9B9403-2F05-485B-B5D0-ABF6A1475A95}" srcOrd="1" destOrd="0" presId="urn:microsoft.com/office/officeart/2005/8/layout/arrow2"/>
    <dgm:cxn modelId="{EC730305-30B8-4FCA-A291-AE4CF9FA4BE5}" type="presParOf" srcId="{8C9B9403-2F05-485B-B5D0-ABF6A1475A95}" destId="{E2FF519A-8CDB-4252-A801-F2094919D642}" srcOrd="0" destOrd="0" presId="urn:microsoft.com/office/officeart/2005/8/layout/arrow2"/>
    <dgm:cxn modelId="{F63EF6C9-2B04-4191-99EF-D3A5618E70AF}" type="presParOf" srcId="{8C9B9403-2F05-485B-B5D0-ABF6A1475A95}" destId="{2283EFD3-B09D-4F1A-8958-5FB17C9A258A}" srcOrd="1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8858D-681E-409A-862C-76292527EC73}">
      <dsp:nvSpPr>
        <dsp:cNvPr id="0" name=""/>
        <dsp:cNvSpPr/>
      </dsp:nvSpPr>
      <dsp:spPr>
        <a:xfrm rot="7875806" flipH="1">
          <a:off x="389738" y="116574"/>
          <a:ext cx="5148543" cy="200258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F519A-8CDB-4252-A801-F2094919D642}">
      <dsp:nvSpPr>
        <dsp:cNvPr id="0" name=""/>
        <dsp:cNvSpPr/>
      </dsp:nvSpPr>
      <dsp:spPr>
        <a:xfrm>
          <a:off x="4336031" y="528608"/>
          <a:ext cx="3326" cy="3326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283EFD3-B09D-4F1A-8958-5FB17C9A258A}">
      <dsp:nvSpPr>
        <dsp:cNvPr id="0" name=""/>
        <dsp:cNvSpPr/>
      </dsp:nvSpPr>
      <dsp:spPr>
        <a:xfrm>
          <a:off x="2757611" y="530272"/>
          <a:ext cx="1580083" cy="1822033"/>
        </a:xfrm>
        <a:prstGeom prst="round2Diag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4892" bIns="0" numCol="1" spcCol="1270" anchor="t" anchorCtr="0">
          <a:noAutofit/>
        </a:bodyPr>
        <a:lstStyle/>
        <a:p>
          <a:pPr marL="0" lvl="0" indent="0" algn="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" kern="1200" dirty="0">
              <a:solidFill>
                <a:schemeClr val="bg1"/>
              </a:solidFill>
            </a:rPr>
            <a:t>1</a:t>
          </a:r>
          <a:endParaRPr lang="zh-CN" altLang="en-US" sz="100" kern="1200" dirty="0">
            <a:solidFill>
              <a:schemeClr val="bg1"/>
            </a:solidFill>
          </a:endParaRPr>
        </a:p>
      </dsp:txBody>
      <dsp:txXfrm>
        <a:off x="2834744" y="607405"/>
        <a:ext cx="1425817" cy="16677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8858D-681E-409A-862C-76292527EC73}">
      <dsp:nvSpPr>
        <dsp:cNvPr id="0" name=""/>
        <dsp:cNvSpPr/>
      </dsp:nvSpPr>
      <dsp:spPr>
        <a:xfrm rot="7875806" flipH="1">
          <a:off x="389738" y="116574"/>
          <a:ext cx="5148543" cy="200258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F519A-8CDB-4252-A801-F2094919D642}">
      <dsp:nvSpPr>
        <dsp:cNvPr id="0" name=""/>
        <dsp:cNvSpPr/>
      </dsp:nvSpPr>
      <dsp:spPr>
        <a:xfrm>
          <a:off x="4336031" y="528608"/>
          <a:ext cx="3326" cy="3326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283EFD3-B09D-4F1A-8958-5FB17C9A258A}">
      <dsp:nvSpPr>
        <dsp:cNvPr id="0" name=""/>
        <dsp:cNvSpPr/>
      </dsp:nvSpPr>
      <dsp:spPr>
        <a:xfrm>
          <a:off x="2757611" y="530272"/>
          <a:ext cx="1580083" cy="1822033"/>
        </a:xfrm>
        <a:prstGeom prst="round2Diag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4892" bIns="0" numCol="1" spcCol="1270" anchor="t" anchorCtr="0">
          <a:noAutofit/>
        </a:bodyPr>
        <a:lstStyle/>
        <a:p>
          <a:pPr marL="0" lvl="0" indent="0" algn="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" kern="1200" dirty="0">
              <a:solidFill>
                <a:schemeClr val="bg1"/>
              </a:solidFill>
            </a:rPr>
            <a:t>1</a:t>
          </a:r>
          <a:endParaRPr lang="zh-CN" altLang="en-US" sz="100" kern="1200" dirty="0">
            <a:solidFill>
              <a:schemeClr val="bg1"/>
            </a:solidFill>
          </a:endParaRPr>
        </a:p>
      </dsp:txBody>
      <dsp:txXfrm>
        <a:off x="2834744" y="607405"/>
        <a:ext cx="1425817" cy="1667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116" y="196529"/>
            <a:ext cx="59298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 dirty="0" err="1"/>
              <a:t>年度经营目标与四步走战略路径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981200" y="816137"/>
            <a:ext cx="2427268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dirty="0"/>
              <a:t>🏆 </a:t>
            </a:r>
            <a:r>
              <a:rPr dirty="0" err="1"/>
              <a:t>年度冲刺目标</a:t>
            </a:r>
            <a:endParaRPr dirty="0"/>
          </a:p>
          <a:p>
            <a:pPr>
              <a:defRPr sz="5400" b="1">
                <a:solidFill>
                  <a:srgbClr val="FF6600"/>
                </a:solidFill>
              </a:defRPr>
            </a:pPr>
            <a:r>
              <a:rPr sz="5400" dirty="0"/>
              <a:t>13</a:t>
            </a:r>
            <a:r>
              <a:rPr sz="4400" dirty="0"/>
              <a:t> 万</a:t>
            </a:r>
            <a:r>
              <a:rPr sz="5400" dirty="0"/>
              <a:t>+</a:t>
            </a:r>
            <a:r>
              <a:rPr sz="2800" dirty="0"/>
              <a:t> 台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rPr sz="1400" dirty="0"/>
              <a:t>Target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572000"/>
            <a:ext cx="2011680" cy="1645920"/>
          </a:xfrm>
          <a:prstGeom prst="rect">
            <a:avLst/>
          </a:prstGeom>
          <a:solidFill>
            <a:srgbClr val="BDD7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/>
              <a:t>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/>
              <a:t>第一阶段：爆款驱动</a:t>
            </a:r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/>
              <a:t>📅 12月 - 2月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/>
              <a:t>⚙️ 自营裂变 · 养权重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/>
              <a:t>📈 目标：1.5 万台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240" y="3657600"/>
            <a:ext cx="2011680" cy="1645920"/>
          </a:xfrm>
          <a:prstGeom prst="rect">
            <a:avLst/>
          </a:prstGeom>
          <a:solidFill>
            <a:srgbClr val="9BC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 dirty="0"/>
              <a:t>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 err="1"/>
              <a:t>第二阶段：新品驱动</a:t>
            </a:r>
            <a:endParaRPr sz="1200" dirty="0"/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 dirty="0"/>
              <a:t>📅 3月 - 6月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 dirty="0"/>
              <a:t>⚙️ </a:t>
            </a:r>
            <a:r>
              <a:rPr sz="1000" dirty="0" err="1"/>
              <a:t>新品分销</a:t>
            </a:r>
            <a:r>
              <a:rPr sz="1000" dirty="0"/>
              <a:t> · 618爆发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 dirty="0"/>
              <a:t>📈 目标：6 </a:t>
            </a:r>
            <a:r>
              <a:rPr sz="1100" dirty="0" err="1"/>
              <a:t>万台</a:t>
            </a:r>
            <a:endParaRPr sz="1100" dirty="0"/>
          </a:p>
        </p:txBody>
      </p:sp>
      <p:sp>
        <p:nvSpPr>
          <p:cNvPr id="6" name="Rectangle 5"/>
          <p:cNvSpPr/>
          <p:nvPr/>
        </p:nvSpPr>
        <p:spPr>
          <a:xfrm>
            <a:off x="7193280" y="2743200"/>
            <a:ext cx="2011680" cy="164592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 dirty="0"/>
              <a:t>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 err="1"/>
              <a:t>第三阶段：新商驱动</a:t>
            </a:r>
            <a:endParaRPr sz="1200" dirty="0"/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 dirty="0"/>
              <a:t>📅 7月 - 9月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 dirty="0"/>
              <a:t>⚙️ </a:t>
            </a:r>
            <a:r>
              <a:rPr sz="1000" dirty="0" err="1"/>
              <a:t>分销拓新</a:t>
            </a:r>
            <a:r>
              <a:rPr sz="1000" dirty="0"/>
              <a:t> · 蓄水双11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 dirty="0"/>
              <a:t>📈 目标：8.5 </a:t>
            </a:r>
            <a:r>
              <a:rPr sz="1100" dirty="0" err="1"/>
              <a:t>万台</a:t>
            </a:r>
            <a:endParaRPr sz="1100" dirty="0"/>
          </a:p>
        </p:txBody>
      </p:sp>
      <p:sp>
        <p:nvSpPr>
          <p:cNvPr id="7" name="Rectangle 6"/>
          <p:cNvSpPr/>
          <p:nvPr/>
        </p:nvSpPr>
        <p:spPr>
          <a:xfrm>
            <a:off x="8656320" y="1828800"/>
            <a:ext cx="2011680" cy="164592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 dirty="0"/>
              <a:t>4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 err="1"/>
              <a:t>第四阶段：大促驱动</a:t>
            </a:r>
            <a:endParaRPr sz="1200" dirty="0"/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 dirty="0"/>
              <a:t>📅 10月 - 12月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 dirty="0"/>
              <a:t>⚙️ </a:t>
            </a:r>
            <a:r>
              <a:rPr sz="1000" dirty="0" err="1"/>
              <a:t>全域共振</a:t>
            </a:r>
            <a:r>
              <a:rPr sz="1000" dirty="0"/>
              <a:t> · </a:t>
            </a:r>
            <a:r>
              <a:rPr sz="1000" dirty="0" err="1"/>
              <a:t>饱和攻击</a:t>
            </a:r>
            <a:endParaRPr sz="1000" dirty="0"/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 dirty="0"/>
              <a:t>📈 冲刺：13 万+ 台</a:t>
            </a: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C9CF351A-44D3-5D15-FE17-D39350EF3A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8394016"/>
              </p:ext>
            </p:extLst>
          </p:nvPr>
        </p:nvGraphicFramePr>
        <p:xfrm>
          <a:off x="3280469" y="1546291"/>
          <a:ext cx="6305265" cy="246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897D51-CB9A-3F0F-79E9-E46FD5C8B141}"/>
              </a:ext>
            </a:extLst>
          </p:cNvPr>
          <p:cNvGrpSpPr/>
          <p:nvPr/>
        </p:nvGrpSpPr>
        <p:grpSpPr>
          <a:xfrm>
            <a:off x="1524000" y="252832"/>
            <a:ext cx="640558" cy="532329"/>
            <a:chOff x="0" y="252831"/>
            <a:chExt cx="640558" cy="532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C68A6C6-80E7-0DE2-5C0E-3B617CC28CB3}"/>
                </a:ext>
              </a:extLst>
            </p:cNvPr>
            <p:cNvSpPr/>
            <p:nvPr/>
          </p:nvSpPr>
          <p:spPr>
            <a:xfrm>
              <a:off x="0" y="255214"/>
              <a:ext cx="640558" cy="439458"/>
            </a:xfrm>
            <a:custGeom>
              <a:avLst/>
              <a:gdLst>
                <a:gd name="connsiteX0" fmla="*/ 0 w 457200"/>
                <a:gd name="connsiteY0" fmla="*/ 0 h 439458"/>
                <a:gd name="connsiteX1" fmla="*/ 457200 w 457200"/>
                <a:gd name="connsiteY1" fmla="*/ 0 h 439458"/>
                <a:gd name="connsiteX2" fmla="*/ 457200 w 457200"/>
                <a:gd name="connsiteY2" fmla="*/ 439458 h 439458"/>
                <a:gd name="connsiteX3" fmla="*/ 0 w 457200"/>
                <a:gd name="connsiteY3" fmla="*/ 439458 h 439458"/>
                <a:gd name="connsiteX4" fmla="*/ 0 w 457200"/>
                <a:gd name="connsiteY4" fmla="*/ 0 h 439458"/>
                <a:gd name="connsiteX0" fmla="*/ 0 w 538163"/>
                <a:gd name="connsiteY0" fmla="*/ 0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0 w 538163"/>
                <a:gd name="connsiteY4" fmla="*/ 0 h 43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63" h="439458">
                  <a:moveTo>
                    <a:pt x="0" y="0"/>
                  </a:moveTo>
                  <a:lnTo>
                    <a:pt x="538163" y="0"/>
                  </a:lnTo>
                  <a:lnTo>
                    <a:pt x="457200" y="439458"/>
                  </a:lnTo>
                  <a:lnTo>
                    <a:pt x="0" y="439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9">
              <a:extLst>
                <a:ext uri="{FF2B5EF4-FFF2-40B4-BE49-F238E27FC236}">
                  <a16:creationId xmlns:a16="http://schemas.microsoft.com/office/drawing/2014/main" id="{8AD2A95D-1D52-7006-35C9-ECD3D6581743}"/>
                </a:ext>
              </a:extLst>
            </p:cNvPr>
            <p:cNvSpPr/>
            <p:nvPr/>
          </p:nvSpPr>
          <p:spPr>
            <a:xfrm>
              <a:off x="313657" y="252831"/>
              <a:ext cx="192305" cy="532329"/>
            </a:xfrm>
            <a:custGeom>
              <a:avLst/>
              <a:gdLst>
                <a:gd name="connsiteX0" fmla="*/ 0 w 457200"/>
                <a:gd name="connsiteY0" fmla="*/ 0 h 439458"/>
                <a:gd name="connsiteX1" fmla="*/ 457200 w 457200"/>
                <a:gd name="connsiteY1" fmla="*/ 0 h 439458"/>
                <a:gd name="connsiteX2" fmla="*/ 457200 w 457200"/>
                <a:gd name="connsiteY2" fmla="*/ 439458 h 439458"/>
                <a:gd name="connsiteX3" fmla="*/ 0 w 457200"/>
                <a:gd name="connsiteY3" fmla="*/ 439458 h 439458"/>
                <a:gd name="connsiteX4" fmla="*/ 0 w 457200"/>
                <a:gd name="connsiteY4" fmla="*/ 0 h 439458"/>
                <a:gd name="connsiteX0" fmla="*/ 0 w 538163"/>
                <a:gd name="connsiteY0" fmla="*/ 0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0 w 538163"/>
                <a:gd name="connsiteY4" fmla="*/ 0 h 439458"/>
                <a:gd name="connsiteX0" fmla="*/ 80963 w 538163"/>
                <a:gd name="connsiteY0" fmla="*/ 4762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80963 w 538163"/>
                <a:gd name="connsiteY4" fmla="*/ 4762 h 439458"/>
                <a:gd name="connsiteX0" fmla="*/ 78581 w 538163"/>
                <a:gd name="connsiteY0" fmla="*/ 2380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78581 w 538163"/>
                <a:gd name="connsiteY4" fmla="*/ 2380 h 439458"/>
                <a:gd name="connsiteX0" fmla="*/ 125598 w 538163"/>
                <a:gd name="connsiteY0" fmla="*/ 0 h 439459"/>
                <a:gd name="connsiteX1" fmla="*/ 538163 w 538163"/>
                <a:gd name="connsiteY1" fmla="*/ 1 h 439459"/>
                <a:gd name="connsiteX2" fmla="*/ 457200 w 538163"/>
                <a:gd name="connsiteY2" fmla="*/ 439459 h 439459"/>
                <a:gd name="connsiteX3" fmla="*/ 0 w 538163"/>
                <a:gd name="connsiteY3" fmla="*/ 439459 h 439459"/>
                <a:gd name="connsiteX4" fmla="*/ 125598 w 538163"/>
                <a:gd name="connsiteY4" fmla="*/ 0 h 439459"/>
                <a:gd name="connsiteX0" fmla="*/ 166735 w 538163"/>
                <a:gd name="connsiteY0" fmla="*/ 0 h 439459"/>
                <a:gd name="connsiteX1" fmla="*/ 538163 w 538163"/>
                <a:gd name="connsiteY1" fmla="*/ 1 h 439459"/>
                <a:gd name="connsiteX2" fmla="*/ 457200 w 538163"/>
                <a:gd name="connsiteY2" fmla="*/ 439459 h 439459"/>
                <a:gd name="connsiteX3" fmla="*/ 0 w 538163"/>
                <a:gd name="connsiteY3" fmla="*/ 439459 h 439459"/>
                <a:gd name="connsiteX4" fmla="*/ 166735 w 538163"/>
                <a:gd name="connsiteY4" fmla="*/ 0 h 439459"/>
                <a:gd name="connsiteX0" fmla="*/ 166735 w 538163"/>
                <a:gd name="connsiteY0" fmla="*/ 0 h 441841"/>
                <a:gd name="connsiteX1" fmla="*/ 538163 w 538163"/>
                <a:gd name="connsiteY1" fmla="*/ 1 h 441841"/>
                <a:gd name="connsiteX2" fmla="*/ 363168 w 538163"/>
                <a:gd name="connsiteY2" fmla="*/ 441841 h 441841"/>
                <a:gd name="connsiteX3" fmla="*/ 0 w 538163"/>
                <a:gd name="connsiteY3" fmla="*/ 439459 h 441841"/>
                <a:gd name="connsiteX4" fmla="*/ 166735 w 538163"/>
                <a:gd name="connsiteY4" fmla="*/ 0 h 441841"/>
                <a:gd name="connsiteX0" fmla="*/ 166735 w 538163"/>
                <a:gd name="connsiteY0" fmla="*/ 0 h 439459"/>
                <a:gd name="connsiteX1" fmla="*/ 538163 w 538163"/>
                <a:gd name="connsiteY1" fmla="*/ 1 h 439459"/>
                <a:gd name="connsiteX2" fmla="*/ 369044 w 538163"/>
                <a:gd name="connsiteY2" fmla="*/ 432316 h 439459"/>
                <a:gd name="connsiteX3" fmla="*/ 0 w 538163"/>
                <a:gd name="connsiteY3" fmla="*/ 439459 h 439459"/>
                <a:gd name="connsiteX4" fmla="*/ 166735 w 538163"/>
                <a:gd name="connsiteY4" fmla="*/ 0 h 439459"/>
                <a:gd name="connsiteX0" fmla="*/ 166735 w 538163"/>
                <a:gd name="connsiteY0" fmla="*/ 0 h 441841"/>
                <a:gd name="connsiteX1" fmla="*/ 538163 w 538163"/>
                <a:gd name="connsiteY1" fmla="*/ 1 h 441841"/>
                <a:gd name="connsiteX2" fmla="*/ 351415 w 538163"/>
                <a:gd name="connsiteY2" fmla="*/ 441841 h 441841"/>
                <a:gd name="connsiteX3" fmla="*/ 0 w 538163"/>
                <a:gd name="connsiteY3" fmla="*/ 439459 h 441841"/>
                <a:gd name="connsiteX4" fmla="*/ 166735 w 538163"/>
                <a:gd name="connsiteY4" fmla="*/ 0 h 441841"/>
                <a:gd name="connsiteX0" fmla="*/ 190243 w 561671"/>
                <a:gd name="connsiteY0" fmla="*/ 0 h 441841"/>
                <a:gd name="connsiteX1" fmla="*/ 561671 w 561671"/>
                <a:gd name="connsiteY1" fmla="*/ 1 h 441841"/>
                <a:gd name="connsiteX2" fmla="*/ 374923 w 561671"/>
                <a:gd name="connsiteY2" fmla="*/ 441841 h 441841"/>
                <a:gd name="connsiteX3" fmla="*/ 0 w 561671"/>
                <a:gd name="connsiteY3" fmla="*/ 439459 h 441841"/>
                <a:gd name="connsiteX4" fmla="*/ 190243 w 561671"/>
                <a:gd name="connsiteY4" fmla="*/ 0 h 441841"/>
                <a:gd name="connsiteX0" fmla="*/ 213751 w 585179"/>
                <a:gd name="connsiteY0" fmla="*/ 0 h 441841"/>
                <a:gd name="connsiteX1" fmla="*/ 585179 w 585179"/>
                <a:gd name="connsiteY1" fmla="*/ 1 h 441841"/>
                <a:gd name="connsiteX2" fmla="*/ 398431 w 585179"/>
                <a:gd name="connsiteY2" fmla="*/ 441841 h 441841"/>
                <a:gd name="connsiteX3" fmla="*/ 0 w 585179"/>
                <a:gd name="connsiteY3" fmla="*/ 439459 h 441841"/>
                <a:gd name="connsiteX4" fmla="*/ 213751 w 585179"/>
                <a:gd name="connsiteY4" fmla="*/ 0 h 441841"/>
                <a:gd name="connsiteX0" fmla="*/ 491600 w 863028"/>
                <a:gd name="connsiteY0" fmla="*/ 0 h 489465"/>
                <a:gd name="connsiteX1" fmla="*/ 863028 w 863028"/>
                <a:gd name="connsiteY1" fmla="*/ 1 h 489465"/>
                <a:gd name="connsiteX2" fmla="*/ 676280 w 863028"/>
                <a:gd name="connsiteY2" fmla="*/ 441841 h 489465"/>
                <a:gd name="connsiteX3" fmla="*/ 0 w 863028"/>
                <a:gd name="connsiteY3" fmla="*/ 489465 h 489465"/>
                <a:gd name="connsiteX4" fmla="*/ 491600 w 863028"/>
                <a:gd name="connsiteY4" fmla="*/ 0 h 489465"/>
                <a:gd name="connsiteX0" fmla="*/ 491600 w 863028"/>
                <a:gd name="connsiteY0" fmla="*/ 0 h 537091"/>
                <a:gd name="connsiteX1" fmla="*/ 863028 w 863028"/>
                <a:gd name="connsiteY1" fmla="*/ 1 h 537091"/>
                <a:gd name="connsiteX2" fmla="*/ 430489 w 863028"/>
                <a:gd name="connsiteY2" fmla="*/ 537091 h 537091"/>
                <a:gd name="connsiteX3" fmla="*/ 0 w 863028"/>
                <a:gd name="connsiteY3" fmla="*/ 489465 h 537091"/>
                <a:gd name="connsiteX4" fmla="*/ 491600 w 863028"/>
                <a:gd name="connsiteY4" fmla="*/ 0 h 537091"/>
                <a:gd name="connsiteX0" fmla="*/ 491600 w 863028"/>
                <a:gd name="connsiteY0" fmla="*/ 0 h 532329"/>
                <a:gd name="connsiteX1" fmla="*/ 863028 w 863028"/>
                <a:gd name="connsiteY1" fmla="*/ 1 h 532329"/>
                <a:gd name="connsiteX2" fmla="*/ 366371 w 863028"/>
                <a:gd name="connsiteY2" fmla="*/ 532329 h 532329"/>
                <a:gd name="connsiteX3" fmla="*/ 0 w 863028"/>
                <a:gd name="connsiteY3" fmla="*/ 489465 h 532329"/>
                <a:gd name="connsiteX4" fmla="*/ 491600 w 863028"/>
                <a:gd name="connsiteY4" fmla="*/ 0 h 53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028" h="532329">
                  <a:moveTo>
                    <a:pt x="491600" y="0"/>
                  </a:moveTo>
                  <a:lnTo>
                    <a:pt x="863028" y="1"/>
                  </a:lnTo>
                  <a:lnTo>
                    <a:pt x="366371" y="532329"/>
                  </a:lnTo>
                  <a:lnTo>
                    <a:pt x="0" y="489465"/>
                  </a:lnTo>
                  <a:lnTo>
                    <a:pt x="49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dirty="0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4F272A14-8F68-28D0-B4D3-ABE8A05827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2192000" cy="6877138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86DF388-9454-02D5-B5B3-260BB21233F6}"/>
              </a:ext>
            </a:extLst>
          </p:cNvPr>
          <p:cNvSpPr/>
          <p:nvPr/>
        </p:nvSpPr>
        <p:spPr>
          <a:xfrm>
            <a:off x="666945" y="6172088"/>
            <a:ext cx="11210827" cy="439458"/>
          </a:xfrm>
          <a:prstGeom prst="roundRect">
            <a:avLst/>
          </a:prstGeom>
          <a:gradFill flip="none" rotWithShape="1">
            <a:gsLst>
              <a:gs pos="52000">
                <a:srgbClr val="407FDB"/>
              </a:gs>
              <a:gs pos="0">
                <a:srgbClr val="3E7FDA"/>
              </a:gs>
              <a:gs pos="100000">
                <a:srgbClr val="407FDB"/>
              </a:gs>
            </a:gsLst>
            <a:lin ang="189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Summary: 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通过“爆款</a:t>
            </a:r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新品</a:t>
            </a:r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新商</a:t>
            </a:r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大促”四阶引擎轮动，实现从日销爬坡到大促爆发的全年稳定增长。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AC3EE8-3BA4-3740-B6A2-EE8653F7DCB2}"/>
              </a:ext>
            </a:extLst>
          </p:cNvPr>
          <p:cNvSpPr/>
          <p:nvPr/>
        </p:nvSpPr>
        <p:spPr>
          <a:xfrm>
            <a:off x="8199120" y="2255036"/>
            <a:ext cx="3312646" cy="8147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第四阶段：大促驱动</a:t>
            </a:r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- 12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全域共振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饱和攻击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冲刺：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13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+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3B03249-11D9-300D-7FFD-DD169A11BFA6}"/>
              </a:ext>
            </a:extLst>
          </p:cNvPr>
          <p:cNvSpPr/>
          <p:nvPr/>
        </p:nvSpPr>
        <p:spPr>
          <a:xfrm>
            <a:off x="6042660" y="3052863"/>
            <a:ext cx="5469106" cy="895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第三阶段：新商驱动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7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- 9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分销拓新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蓄水双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目标：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8.5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65CEEB-78A4-1642-9F64-E60616D4D7A1}"/>
              </a:ext>
            </a:extLst>
          </p:cNvPr>
          <p:cNvSpPr/>
          <p:nvPr/>
        </p:nvSpPr>
        <p:spPr>
          <a:xfrm>
            <a:off x="4029075" y="3845313"/>
            <a:ext cx="7482691" cy="895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第二阶段：新品驱动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- 6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新品分销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618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爆发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目标：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6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96A288-09C8-99EE-E694-BCAAC91ADFFE}"/>
              </a:ext>
            </a:extLst>
          </p:cNvPr>
          <p:cNvSpPr/>
          <p:nvPr/>
        </p:nvSpPr>
        <p:spPr>
          <a:xfrm>
            <a:off x="2000250" y="4688175"/>
            <a:ext cx="9511516" cy="9859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第一阶段：爆款驱动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- 2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自营裂变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养权重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目标：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1.5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AEDBB5A-A3FC-008C-9AEA-F7315585E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" y="9952"/>
            <a:ext cx="12180952" cy="6838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6C73-883F-D8EC-7F60-90AC8088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CFD1D0-46FA-365C-3045-9D78FF3782EF}"/>
              </a:ext>
            </a:extLst>
          </p:cNvPr>
          <p:cNvSpPr txBox="1"/>
          <p:nvPr/>
        </p:nvSpPr>
        <p:spPr>
          <a:xfrm>
            <a:off x="2209116" y="196529"/>
            <a:ext cx="59298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200" dirty="0" err="1"/>
              <a:t>年度经营目标与四步走战略路径</a:t>
            </a:r>
            <a:endParaRPr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8FE1C-2299-7C01-EBD3-B92AA819875D}"/>
              </a:ext>
            </a:extLst>
          </p:cNvPr>
          <p:cNvSpPr txBox="1"/>
          <p:nvPr/>
        </p:nvSpPr>
        <p:spPr>
          <a:xfrm>
            <a:off x="1981200" y="816137"/>
            <a:ext cx="2427268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dirty="0"/>
              <a:t>🏆 </a:t>
            </a:r>
            <a:r>
              <a:rPr dirty="0" err="1"/>
              <a:t>年度冲刺目标</a:t>
            </a:r>
            <a:endParaRPr dirty="0"/>
          </a:p>
          <a:p>
            <a:pPr>
              <a:defRPr sz="5400" b="1">
                <a:solidFill>
                  <a:srgbClr val="FF6600"/>
                </a:solidFill>
              </a:defRPr>
            </a:pPr>
            <a:r>
              <a:rPr sz="5400" dirty="0"/>
              <a:t>13</a:t>
            </a:r>
            <a:r>
              <a:rPr sz="4400" dirty="0"/>
              <a:t> 万</a:t>
            </a:r>
            <a:r>
              <a:rPr sz="5400" dirty="0"/>
              <a:t>+</a:t>
            </a:r>
            <a:r>
              <a:rPr sz="2800" dirty="0"/>
              <a:t> 台</a:t>
            </a:r>
          </a:p>
          <a:p>
            <a:pPr>
              <a:defRPr sz="1400">
                <a:solidFill>
                  <a:srgbClr val="808080"/>
                </a:solidFill>
              </a:defRPr>
            </a:pPr>
            <a:r>
              <a:rPr sz="1400" dirty="0"/>
              <a:t>Target Achievement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DD97-B770-8C76-0096-337F428BB961}"/>
              </a:ext>
            </a:extLst>
          </p:cNvPr>
          <p:cNvSpPr/>
          <p:nvPr/>
        </p:nvSpPr>
        <p:spPr>
          <a:xfrm>
            <a:off x="4267200" y="4572000"/>
            <a:ext cx="2011680" cy="1645920"/>
          </a:xfrm>
          <a:prstGeom prst="rect">
            <a:avLst/>
          </a:prstGeom>
          <a:solidFill>
            <a:srgbClr val="BDD7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/>
              <a:t>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/>
              <a:t>第一阶段：爆款驱动</a:t>
            </a:r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/>
              <a:t>📅 12月 - 2月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/>
              <a:t>⚙️ 自营裂变 · 养权重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/>
              <a:t>📈 目标：1.5 万台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93C96-E2A2-C26E-F2F2-25C23A980486}"/>
              </a:ext>
            </a:extLst>
          </p:cNvPr>
          <p:cNvSpPr/>
          <p:nvPr/>
        </p:nvSpPr>
        <p:spPr>
          <a:xfrm>
            <a:off x="5730240" y="3657600"/>
            <a:ext cx="2011680" cy="1645920"/>
          </a:xfrm>
          <a:prstGeom prst="rect">
            <a:avLst/>
          </a:prstGeom>
          <a:solidFill>
            <a:srgbClr val="9BC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 dirty="0"/>
              <a:t>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 err="1"/>
              <a:t>第二阶段：新品驱动</a:t>
            </a:r>
            <a:endParaRPr sz="1200" dirty="0"/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 dirty="0"/>
              <a:t>📅 3月 - 6月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 dirty="0"/>
              <a:t>⚙️ </a:t>
            </a:r>
            <a:r>
              <a:rPr sz="1000" dirty="0" err="1"/>
              <a:t>新品分销</a:t>
            </a:r>
            <a:r>
              <a:rPr sz="1000" dirty="0"/>
              <a:t> · 618爆发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 dirty="0"/>
              <a:t>📈 目标：6 </a:t>
            </a:r>
            <a:r>
              <a:rPr sz="1100" dirty="0" err="1"/>
              <a:t>万台</a:t>
            </a:r>
            <a:endParaRPr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F2F97-BA83-2521-E92F-E23F24C9A9CA}"/>
              </a:ext>
            </a:extLst>
          </p:cNvPr>
          <p:cNvSpPr/>
          <p:nvPr/>
        </p:nvSpPr>
        <p:spPr>
          <a:xfrm>
            <a:off x="7193280" y="2743200"/>
            <a:ext cx="2011680" cy="164592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 dirty="0"/>
              <a:t>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 err="1"/>
              <a:t>第三阶段：新商驱动</a:t>
            </a:r>
            <a:endParaRPr sz="1200" dirty="0"/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 dirty="0"/>
              <a:t>📅 7月 - 9月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 dirty="0"/>
              <a:t>⚙️ </a:t>
            </a:r>
            <a:r>
              <a:rPr sz="1000" dirty="0" err="1"/>
              <a:t>分销拓新</a:t>
            </a:r>
            <a:r>
              <a:rPr sz="1000" dirty="0"/>
              <a:t> · 蓄水双11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 dirty="0"/>
              <a:t>📈 目标：8.5 </a:t>
            </a:r>
            <a:r>
              <a:rPr sz="1100" dirty="0" err="1"/>
              <a:t>万台</a:t>
            </a:r>
            <a:endParaRPr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E1C54-4675-CC19-26B0-F134B1EB46D3}"/>
              </a:ext>
            </a:extLst>
          </p:cNvPr>
          <p:cNvSpPr/>
          <p:nvPr/>
        </p:nvSpPr>
        <p:spPr>
          <a:xfrm>
            <a:off x="8656320" y="1828800"/>
            <a:ext cx="2011680" cy="164592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rPr sz="4000" dirty="0"/>
              <a:t>4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 err="1"/>
              <a:t>第四阶段：大促驱动</a:t>
            </a:r>
            <a:endParaRPr sz="1200" dirty="0"/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sz="1000" dirty="0"/>
              <a:t>📅 10月 - 12月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sz="1000" dirty="0"/>
              <a:t>⚙️ </a:t>
            </a:r>
            <a:r>
              <a:rPr sz="1000" dirty="0" err="1"/>
              <a:t>全域共振</a:t>
            </a:r>
            <a:r>
              <a:rPr sz="1000" dirty="0"/>
              <a:t> · </a:t>
            </a:r>
            <a:r>
              <a:rPr sz="1000" dirty="0" err="1"/>
              <a:t>饱和攻击</a:t>
            </a:r>
            <a:endParaRPr sz="1000" dirty="0"/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sz="1100" dirty="0"/>
              <a:t>📈 冲刺：13 万+ 台</a:t>
            </a: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9959C1EA-FF11-0DD5-BE9F-4AB819939228}"/>
              </a:ext>
            </a:extLst>
          </p:cNvPr>
          <p:cNvGraphicFramePr/>
          <p:nvPr/>
        </p:nvGraphicFramePr>
        <p:xfrm>
          <a:off x="3280469" y="1546291"/>
          <a:ext cx="6305265" cy="246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048432E2-32EE-7A43-1946-0C29133295CC}"/>
              </a:ext>
            </a:extLst>
          </p:cNvPr>
          <p:cNvGrpSpPr/>
          <p:nvPr/>
        </p:nvGrpSpPr>
        <p:grpSpPr>
          <a:xfrm>
            <a:off x="1524000" y="252832"/>
            <a:ext cx="640558" cy="532329"/>
            <a:chOff x="0" y="252831"/>
            <a:chExt cx="640558" cy="532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96CDEF8-F103-6F26-A90A-4E13E7B0E368}"/>
                </a:ext>
              </a:extLst>
            </p:cNvPr>
            <p:cNvSpPr/>
            <p:nvPr/>
          </p:nvSpPr>
          <p:spPr>
            <a:xfrm>
              <a:off x="0" y="255214"/>
              <a:ext cx="640558" cy="439458"/>
            </a:xfrm>
            <a:custGeom>
              <a:avLst/>
              <a:gdLst>
                <a:gd name="connsiteX0" fmla="*/ 0 w 457200"/>
                <a:gd name="connsiteY0" fmla="*/ 0 h 439458"/>
                <a:gd name="connsiteX1" fmla="*/ 457200 w 457200"/>
                <a:gd name="connsiteY1" fmla="*/ 0 h 439458"/>
                <a:gd name="connsiteX2" fmla="*/ 457200 w 457200"/>
                <a:gd name="connsiteY2" fmla="*/ 439458 h 439458"/>
                <a:gd name="connsiteX3" fmla="*/ 0 w 457200"/>
                <a:gd name="connsiteY3" fmla="*/ 439458 h 439458"/>
                <a:gd name="connsiteX4" fmla="*/ 0 w 457200"/>
                <a:gd name="connsiteY4" fmla="*/ 0 h 439458"/>
                <a:gd name="connsiteX0" fmla="*/ 0 w 538163"/>
                <a:gd name="connsiteY0" fmla="*/ 0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0 w 538163"/>
                <a:gd name="connsiteY4" fmla="*/ 0 h 43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163" h="439458">
                  <a:moveTo>
                    <a:pt x="0" y="0"/>
                  </a:moveTo>
                  <a:lnTo>
                    <a:pt x="538163" y="0"/>
                  </a:lnTo>
                  <a:lnTo>
                    <a:pt x="457200" y="439458"/>
                  </a:lnTo>
                  <a:lnTo>
                    <a:pt x="0" y="439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9">
              <a:extLst>
                <a:ext uri="{FF2B5EF4-FFF2-40B4-BE49-F238E27FC236}">
                  <a16:creationId xmlns:a16="http://schemas.microsoft.com/office/drawing/2014/main" id="{BC173B01-132F-20EB-5D94-0C47CFCDE742}"/>
                </a:ext>
              </a:extLst>
            </p:cNvPr>
            <p:cNvSpPr/>
            <p:nvPr/>
          </p:nvSpPr>
          <p:spPr>
            <a:xfrm>
              <a:off x="313657" y="252831"/>
              <a:ext cx="192305" cy="532329"/>
            </a:xfrm>
            <a:custGeom>
              <a:avLst/>
              <a:gdLst>
                <a:gd name="connsiteX0" fmla="*/ 0 w 457200"/>
                <a:gd name="connsiteY0" fmla="*/ 0 h 439458"/>
                <a:gd name="connsiteX1" fmla="*/ 457200 w 457200"/>
                <a:gd name="connsiteY1" fmla="*/ 0 h 439458"/>
                <a:gd name="connsiteX2" fmla="*/ 457200 w 457200"/>
                <a:gd name="connsiteY2" fmla="*/ 439458 h 439458"/>
                <a:gd name="connsiteX3" fmla="*/ 0 w 457200"/>
                <a:gd name="connsiteY3" fmla="*/ 439458 h 439458"/>
                <a:gd name="connsiteX4" fmla="*/ 0 w 457200"/>
                <a:gd name="connsiteY4" fmla="*/ 0 h 439458"/>
                <a:gd name="connsiteX0" fmla="*/ 0 w 538163"/>
                <a:gd name="connsiteY0" fmla="*/ 0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0 w 538163"/>
                <a:gd name="connsiteY4" fmla="*/ 0 h 439458"/>
                <a:gd name="connsiteX0" fmla="*/ 80963 w 538163"/>
                <a:gd name="connsiteY0" fmla="*/ 4762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80963 w 538163"/>
                <a:gd name="connsiteY4" fmla="*/ 4762 h 439458"/>
                <a:gd name="connsiteX0" fmla="*/ 78581 w 538163"/>
                <a:gd name="connsiteY0" fmla="*/ 2380 h 439458"/>
                <a:gd name="connsiteX1" fmla="*/ 538163 w 538163"/>
                <a:gd name="connsiteY1" fmla="*/ 0 h 439458"/>
                <a:gd name="connsiteX2" fmla="*/ 457200 w 538163"/>
                <a:gd name="connsiteY2" fmla="*/ 439458 h 439458"/>
                <a:gd name="connsiteX3" fmla="*/ 0 w 538163"/>
                <a:gd name="connsiteY3" fmla="*/ 439458 h 439458"/>
                <a:gd name="connsiteX4" fmla="*/ 78581 w 538163"/>
                <a:gd name="connsiteY4" fmla="*/ 2380 h 439458"/>
                <a:gd name="connsiteX0" fmla="*/ 125598 w 538163"/>
                <a:gd name="connsiteY0" fmla="*/ 0 h 439459"/>
                <a:gd name="connsiteX1" fmla="*/ 538163 w 538163"/>
                <a:gd name="connsiteY1" fmla="*/ 1 h 439459"/>
                <a:gd name="connsiteX2" fmla="*/ 457200 w 538163"/>
                <a:gd name="connsiteY2" fmla="*/ 439459 h 439459"/>
                <a:gd name="connsiteX3" fmla="*/ 0 w 538163"/>
                <a:gd name="connsiteY3" fmla="*/ 439459 h 439459"/>
                <a:gd name="connsiteX4" fmla="*/ 125598 w 538163"/>
                <a:gd name="connsiteY4" fmla="*/ 0 h 439459"/>
                <a:gd name="connsiteX0" fmla="*/ 166735 w 538163"/>
                <a:gd name="connsiteY0" fmla="*/ 0 h 439459"/>
                <a:gd name="connsiteX1" fmla="*/ 538163 w 538163"/>
                <a:gd name="connsiteY1" fmla="*/ 1 h 439459"/>
                <a:gd name="connsiteX2" fmla="*/ 457200 w 538163"/>
                <a:gd name="connsiteY2" fmla="*/ 439459 h 439459"/>
                <a:gd name="connsiteX3" fmla="*/ 0 w 538163"/>
                <a:gd name="connsiteY3" fmla="*/ 439459 h 439459"/>
                <a:gd name="connsiteX4" fmla="*/ 166735 w 538163"/>
                <a:gd name="connsiteY4" fmla="*/ 0 h 439459"/>
                <a:gd name="connsiteX0" fmla="*/ 166735 w 538163"/>
                <a:gd name="connsiteY0" fmla="*/ 0 h 441841"/>
                <a:gd name="connsiteX1" fmla="*/ 538163 w 538163"/>
                <a:gd name="connsiteY1" fmla="*/ 1 h 441841"/>
                <a:gd name="connsiteX2" fmla="*/ 363168 w 538163"/>
                <a:gd name="connsiteY2" fmla="*/ 441841 h 441841"/>
                <a:gd name="connsiteX3" fmla="*/ 0 w 538163"/>
                <a:gd name="connsiteY3" fmla="*/ 439459 h 441841"/>
                <a:gd name="connsiteX4" fmla="*/ 166735 w 538163"/>
                <a:gd name="connsiteY4" fmla="*/ 0 h 441841"/>
                <a:gd name="connsiteX0" fmla="*/ 166735 w 538163"/>
                <a:gd name="connsiteY0" fmla="*/ 0 h 439459"/>
                <a:gd name="connsiteX1" fmla="*/ 538163 w 538163"/>
                <a:gd name="connsiteY1" fmla="*/ 1 h 439459"/>
                <a:gd name="connsiteX2" fmla="*/ 369044 w 538163"/>
                <a:gd name="connsiteY2" fmla="*/ 432316 h 439459"/>
                <a:gd name="connsiteX3" fmla="*/ 0 w 538163"/>
                <a:gd name="connsiteY3" fmla="*/ 439459 h 439459"/>
                <a:gd name="connsiteX4" fmla="*/ 166735 w 538163"/>
                <a:gd name="connsiteY4" fmla="*/ 0 h 439459"/>
                <a:gd name="connsiteX0" fmla="*/ 166735 w 538163"/>
                <a:gd name="connsiteY0" fmla="*/ 0 h 441841"/>
                <a:gd name="connsiteX1" fmla="*/ 538163 w 538163"/>
                <a:gd name="connsiteY1" fmla="*/ 1 h 441841"/>
                <a:gd name="connsiteX2" fmla="*/ 351415 w 538163"/>
                <a:gd name="connsiteY2" fmla="*/ 441841 h 441841"/>
                <a:gd name="connsiteX3" fmla="*/ 0 w 538163"/>
                <a:gd name="connsiteY3" fmla="*/ 439459 h 441841"/>
                <a:gd name="connsiteX4" fmla="*/ 166735 w 538163"/>
                <a:gd name="connsiteY4" fmla="*/ 0 h 441841"/>
                <a:gd name="connsiteX0" fmla="*/ 190243 w 561671"/>
                <a:gd name="connsiteY0" fmla="*/ 0 h 441841"/>
                <a:gd name="connsiteX1" fmla="*/ 561671 w 561671"/>
                <a:gd name="connsiteY1" fmla="*/ 1 h 441841"/>
                <a:gd name="connsiteX2" fmla="*/ 374923 w 561671"/>
                <a:gd name="connsiteY2" fmla="*/ 441841 h 441841"/>
                <a:gd name="connsiteX3" fmla="*/ 0 w 561671"/>
                <a:gd name="connsiteY3" fmla="*/ 439459 h 441841"/>
                <a:gd name="connsiteX4" fmla="*/ 190243 w 561671"/>
                <a:gd name="connsiteY4" fmla="*/ 0 h 441841"/>
                <a:gd name="connsiteX0" fmla="*/ 213751 w 585179"/>
                <a:gd name="connsiteY0" fmla="*/ 0 h 441841"/>
                <a:gd name="connsiteX1" fmla="*/ 585179 w 585179"/>
                <a:gd name="connsiteY1" fmla="*/ 1 h 441841"/>
                <a:gd name="connsiteX2" fmla="*/ 398431 w 585179"/>
                <a:gd name="connsiteY2" fmla="*/ 441841 h 441841"/>
                <a:gd name="connsiteX3" fmla="*/ 0 w 585179"/>
                <a:gd name="connsiteY3" fmla="*/ 439459 h 441841"/>
                <a:gd name="connsiteX4" fmla="*/ 213751 w 585179"/>
                <a:gd name="connsiteY4" fmla="*/ 0 h 441841"/>
                <a:gd name="connsiteX0" fmla="*/ 491600 w 863028"/>
                <a:gd name="connsiteY0" fmla="*/ 0 h 489465"/>
                <a:gd name="connsiteX1" fmla="*/ 863028 w 863028"/>
                <a:gd name="connsiteY1" fmla="*/ 1 h 489465"/>
                <a:gd name="connsiteX2" fmla="*/ 676280 w 863028"/>
                <a:gd name="connsiteY2" fmla="*/ 441841 h 489465"/>
                <a:gd name="connsiteX3" fmla="*/ 0 w 863028"/>
                <a:gd name="connsiteY3" fmla="*/ 489465 h 489465"/>
                <a:gd name="connsiteX4" fmla="*/ 491600 w 863028"/>
                <a:gd name="connsiteY4" fmla="*/ 0 h 489465"/>
                <a:gd name="connsiteX0" fmla="*/ 491600 w 863028"/>
                <a:gd name="connsiteY0" fmla="*/ 0 h 537091"/>
                <a:gd name="connsiteX1" fmla="*/ 863028 w 863028"/>
                <a:gd name="connsiteY1" fmla="*/ 1 h 537091"/>
                <a:gd name="connsiteX2" fmla="*/ 430489 w 863028"/>
                <a:gd name="connsiteY2" fmla="*/ 537091 h 537091"/>
                <a:gd name="connsiteX3" fmla="*/ 0 w 863028"/>
                <a:gd name="connsiteY3" fmla="*/ 489465 h 537091"/>
                <a:gd name="connsiteX4" fmla="*/ 491600 w 863028"/>
                <a:gd name="connsiteY4" fmla="*/ 0 h 537091"/>
                <a:gd name="connsiteX0" fmla="*/ 491600 w 863028"/>
                <a:gd name="connsiteY0" fmla="*/ 0 h 532329"/>
                <a:gd name="connsiteX1" fmla="*/ 863028 w 863028"/>
                <a:gd name="connsiteY1" fmla="*/ 1 h 532329"/>
                <a:gd name="connsiteX2" fmla="*/ 366371 w 863028"/>
                <a:gd name="connsiteY2" fmla="*/ 532329 h 532329"/>
                <a:gd name="connsiteX3" fmla="*/ 0 w 863028"/>
                <a:gd name="connsiteY3" fmla="*/ 489465 h 532329"/>
                <a:gd name="connsiteX4" fmla="*/ 491600 w 863028"/>
                <a:gd name="connsiteY4" fmla="*/ 0 h 53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028" h="532329">
                  <a:moveTo>
                    <a:pt x="491600" y="0"/>
                  </a:moveTo>
                  <a:lnTo>
                    <a:pt x="863028" y="1"/>
                  </a:lnTo>
                  <a:lnTo>
                    <a:pt x="366371" y="532329"/>
                  </a:lnTo>
                  <a:lnTo>
                    <a:pt x="0" y="489465"/>
                  </a:lnTo>
                  <a:lnTo>
                    <a:pt x="49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dirty="0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D620F1DA-6CEB-B772-CC49-075A5AA64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2192000" cy="6877138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D3130B8-E9C8-C038-5FCB-6CC074CC93A0}"/>
              </a:ext>
            </a:extLst>
          </p:cNvPr>
          <p:cNvSpPr/>
          <p:nvPr/>
        </p:nvSpPr>
        <p:spPr>
          <a:xfrm>
            <a:off x="666945" y="6172088"/>
            <a:ext cx="11210827" cy="439458"/>
          </a:xfrm>
          <a:prstGeom prst="roundRect">
            <a:avLst/>
          </a:prstGeom>
          <a:gradFill flip="none" rotWithShape="1">
            <a:gsLst>
              <a:gs pos="52000">
                <a:srgbClr val="407FDB"/>
              </a:gs>
              <a:gs pos="0">
                <a:srgbClr val="3E7FDA"/>
              </a:gs>
              <a:gs pos="100000">
                <a:srgbClr val="407FDB"/>
              </a:gs>
            </a:gsLst>
            <a:lin ang="189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Summary: 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通过“爆款</a:t>
            </a:r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新品</a:t>
            </a:r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新商</a:t>
            </a:r>
            <a:r>
              <a:rPr lang="en-US" altLang="zh-CN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</a:t>
            </a:r>
            <a:r>
              <a:rPr lang="zh-CN" altLang="en-US" dirty="0"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大促”四阶引擎轮动，实现从日销爬坡到大促爆发的全年稳定增长。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AF4902-EDC0-0B90-356C-5184B6EDB154}"/>
              </a:ext>
            </a:extLst>
          </p:cNvPr>
          <p:cNvSpPr/>
          <p:nvPr/>
        </p:nvSpPr>
        <p:spPr>
          <a:xfrm>
            <a:off x="8199120" y="2255036"/>
            <a:ext cx="3312646" cy="8147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第四阶段：大促驱动</a:t>
            </a:r>
          </a:p>
          <a:p>
            <a:pPr>
              <a:defRPr sz="1000">
                <a:solidFill>
                  <a:srgbClr val="E6E6E6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- 12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全域共振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饱和攻击</a:t>
            </a:r>
          </a:p>
          <a:p>
            <a:pPr>
              <a:defRPr sz="1100" b="1">
                <a:solidFill>
                  <a:srgbClr val="FFFF00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冲刺：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13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+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9F45BA-5DC2-3CC8-D87D-46B055A00474}"/>
              </a:ext>
            </a:extLst>
          </p:cNvPr>
          <p:cNvSpPr/>
          <p:nvPr/>
        </p:nvSpPr>
        <p:spPr>
          <a:xfrm>
            <a:off x="6042660" y="3052863"/>
            <a:ext cx="5469106" cy="895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第三阶段：新商驱动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7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- 9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分销拓新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蓄水双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目标：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8.5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F790A8-31D4-1D65-CF2E-25FE9DCAEADD}"/>
              </a:ext>
            </a:extLst>
          </p:cNvPr>
          <p:cNvSpPr/>
          <p:nvPr/>
        </p:nvSpPr>
        <p:spPr>
          <a:xfrm>
            <a:off x="4029075" y="3845313"/>
            <a:ext cx="7482691" cy="895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第二阶段：新品驱动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- 6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新品分销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618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爆发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目标：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6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90F720-B5BA-6596-CC46-A36E6736C718}"/>
              </a:ext>
            </a:extLst>
          </p:cNvPr>
          <p:cNvSpPr/>
          <p:nvPr/>
        </p:nvSpPr>
        <p:spPr>
          <a:xfrm>
            <a:off x="2000250" y="4688175"/>
            <a:ext cx="9511516" cy="9859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第一阶段：爆款驱动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📅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- 2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月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⚙️ 自营裂变 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养权重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📈 目标：</a:t>
            </a:r>
            <a:r>
              <a:rPr lang="en-US" altLang="zh-CN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1.5 </a:t>
            </a:r>
            <a:r>
              <a:rPr lang="zh-CN" altLang="en-US" dirty="0">
                <a:solidFill>
                  <a:schemeClr val="tx1"/>
                </a:solidFill>
                <a:latin typeface="汉仪君黑 65简" panose="00020600040101010101" pitchFamily="18" charset="-122"/>
                <a:ea typeface="汉仪君黑 65简" panose="00020600040101010101" pitchFamily="18" charset="-122"/>
                <a:cs typeface="Cascadia Code" panose="020B0609020000020004" pitchFamily="49" charset="0"/>
              </a:rPr>
              <a:t>万台</a:t>
            </a:r>
          </a:p>
        </p:txBody>
      </p:sp>
    </p:spTree>
    <p:extLst>
      <p:ext uri="{BB962C8B-B14F-4D97-AF65-F5344CB8AC3E}">
        <p14:creationId xmlns:p14="http://schemas.microsoft.com/office/powerpoint/2010/main" val="1029744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446</Words>
  <Application>Microsoft Office PowerPoint</Application>
  <PresentationFormat>宽屏</PresentationFormat>
  <Paragraphs>86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汉仪君黑 65简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俊生 罗</cp:lastModifiedBy>
  <cp:revision>3</cp:revision>
  <dcterms:created xsi:type="dcterms:W3CDTF">2013-01-27T09:14:16Z</dcterms:created>
  <dcterms:modified xsi:type="dcterms:W3CDTF">2025-12-02T09:02:41Z</dcterms:modified>
  <cp:category/>
</cp:coreProperties>
</file>